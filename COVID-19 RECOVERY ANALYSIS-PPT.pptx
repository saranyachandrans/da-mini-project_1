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1" r:id="rId1"/>
  </p:sldMasterIdLst>
  <p:sldIdLst>
    <p:sldId id="256" r:id="rId2"/>
    <p:sldId id="273" r:id="rId3"/>
    <p:sldId id="260" r:id="rId4"/>
    <p:sldId id="259" r:id="rId5"/>
    <p:sldId id="258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67F2"/>
    <a:srgbClr val="C32BA6"/>
    <a:srgbClr val="532A23"/>
    <a:srgbClr val="3A8EEA"/>
    <a:srgbClr val="E9114F"/>
    <a:srgbClr val="B5A425"/>
    <a:srgbClr val="22D0D4"/>
    <a:srgbClr val="D64536"/>
    <a:srgbClr val="3D6F63"/>
    <a:srgbClr val="490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65" autoAdjust="0"/>
  </p:normalViewPr>
  <p:slideViewPr>
    <p:cSldViewPr snapToGrid="0">
      <p:cViewPr varScale="1">
        <p:scale>
          <a:sx n="80" d="100"/>
          <a:sy n="80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23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4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1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1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14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88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7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25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75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420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278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7F084D1-A00C-43A3-A48A-D7D5427EBF7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083B05-4CD5-4D08-A4E8-1BEE32FECB4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0881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2" r:id="rId1"/>
    <p:sldLayoutId id="2147484043" r:id="rId2"/>
    <p:sldLayoutId id="2147484044" r:id="rId3"/>
    <p:sldLayoutId id="2147484045" r:id="rId4"/>
    <p:sldLayoutId id="2147484046" r:id="rId5"/>
    <p:sldLayoutId id="2147484047" r:id="rId6"/>
    <p:sldLayoutId id="2147484048" r:id="rId7"/>
    <p:sldLayoutId id="2147484049" r:id="rId8"/>
    <p:sldLayoutId id="2147484050" r:id="rId9"/>
    <p:sldLayoutId id="2147484051" r:id="rId10"/>
    <p:sldLayoutId id="2147484052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traveldoctor.com.au/why-is-covid-19-such-a-big-deal/shutterstock_covid19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3D73-4A7E-49F7-A235-E9A257ABD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Bahnschrift SemiCondensed" panose="020B0502040204020203" pitchFamily="34" charset="0"/>
              </a:rPr>
              <a:t>COVID-19 RECOVERY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B636F-2C70-4F18-8F02-B4406902FD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Mini Project Presented By Saranya Chandran 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CE971-26EE-405C-8EAD-DB935F63E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0050" y="3085766"/>
            <a:ext cx="11791950" cy="328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0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7DA1-A871-44B1-8983-64A4929A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A4D1B-7228-4027-9FBF-3C3A53BFFF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IN" b="1" dirty="0"/>
              <a:t>1 – 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2 – PROJECT OBJECTIVE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3 – 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4 – DATA CLEANING STEPS IN EXCEL   		    USING PQE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5 – DATA MODELING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6 – DAX MEASURE EXPRESSION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7 – CALCULATED COLUMN FORMULA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53FC2-BEC0-43E1-9C9E-152D063F72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 </a:t>
            </a:r>
            <a:r>
              <a:rPr lang="en-IN" b="1" dirty="0"/>
              <a:t>8  – POWER BI REPORT 		       	    			       VISUALIZATIONS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 9  – DASHBOARD OVERVIEW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10 – INSIGHTS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11 – SUGGESTIONS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12 -- CONCLUSION</a:t>
            </a:r>
          </a:p>
        </p:txBody>
      </p:sp>
    </p:spTree>
    <p:extLst>
      <p:ext uri="{BB962C8B-B14F-4D97-AF65-F5344CB8AC3E}">
        <p14:creationId xmlns:p14="http://schemas.microsoft.com/office/powerpoint/2010/main" val="3434794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7634E-EA05-474E-A750-07B7D479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C6A75-A5B4-42BA-902A-57FD8AA38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Arial Black" panose="020B0A04020102020204" pitchFamily="34" charset="0"/>
              </a:rPr>
              <a:t>The COVID-19 pandemic significantly impacted global health systems and patient outcomes. Analyzing patient-level data is essential to understand the factors influencing recovery and mortality.</a:t>
            </a:r>
          </a:p>
          <a:p>
            <a:pPr marL="0" indent="0" algn="just">
              <a:buNone/>
            </a:pPr>
            <a:endParaRPr lang="en-US" dirty="0">
              <a:latin typeface="Arial Black" panose="020B0A04020102020204" pitchFamily="34" charset="0"/>
            </a:endParaRPr>
          </a:p>
          <a:p>
            <a:pPr algn="just"/>
            <a:r>
              <a:rPr lang="en-US" dirty="0">
                <a:latin typeface="Arial Black" panose="020B0A04020102020204" pitchFamily="34" charset="0"/>
              </a:rPr>
              <a:t>This project examines a large COVID-19 dataset to identify how demographics, comorbidities, vaccination status, severity, and treatments affect recovery time and survival rates. The goal is to derive meaningful insights that support better healthcare decision-making.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47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7D56-6C71-4F58-B813-473D3953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2. 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0C11-25C4-4B08-AF66-EF6AEA34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Bahnschrift SemiBold" panose="020B0502040204020203" pitchFamily="34" charset="0"/>
              </a:rPr>
              <a:t>To clean and pre-process the “COVID-19 Recovery Dataset” by dealing with inconsistency, missing values and null values.</a:t>
            </a:r>
          </a:p>
          <a:p>
            <a:pPr marL="0" indent="0" algn="just">
              <a:buNone/>
            </a:pPr>
            <a:endParaRPr lang="en-IN" dirty="0">
              <a:latin typeface="Bahnschrift SemiBold" panose="020B0502040204020203" pitchFamily="34" charset="0"/>
            </a:endParaRPr>
          </a:p>
          <a:p>
            <a:pPr algn="just"/>
            <a:r>
              <a:rPr lang="en-IN" dirty="0">
                <a:latin typeface="Bahnschrift SemiBold" panose="020B0502040204020203" pitchFamily="34" charset="0"/>
              </a:rPr>
              <a:t>To build data modelling if there are more tables created using either MS Excel or Power BI.</a:t>
            </a:r>
          </a:p>
          <a:p>
            <a:pPr marL="0" indent="0" algn="just">
              <a:buNone/>
            </a:pPr>
            <a:endParaRPr lang="en-IN" dirty="0">
              <a:latin typeface="Bahnschrift SemiBold" panose="020B0502040204020203" pitchFamily="34" charset="0"/>
            </a:endParaRPr>
          </a:p>
          <a:p>
            <a:pPr algn="just"/>
            <a:r>
              <a:rPr lang="en-IN" dirty="0">
                <a:latin typeface="Bahnschrift SemiBold" panose="020B0502040204020203" pitchFamily="34" charset="0"/>
              </a:rPr>
              <a:t>To create Report using visualizations using Power BI.</a:t>
            </a:r>
          </a:p>
          <a:p>
            <a:pPr algn="just"/>
            <a:endParaRPr lang="en-IN" dirty="0">
              <a:latin typeface="Bahnschrift SemiBold" panose="020B0502040204020203" pitchFamily="34" charset="0"/>
            </a:endParaRPr>
          </a:p>
          <a:p>
            <a:pPr algn="just"/>
            <a:r>
              <a:rPr lang="en-IN" dirty="0">
                <a:latin typeface="Bahnschrift SemiBold" panose="020B0502040204020203" pitchFamily="34" charset="0"/>
              </a:rPr>
              <a:t>To create an interactive dashboard using slicers and filters.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612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5E8D1-476C-4798-95E6-2A7C79CB6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3.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64CF3-55F5-45B8-B23F-9B2A77BC4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17" y="2095501"/>
            <a:ext cx="11029615" cy="4060344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Bahnschrift SemiBold" panose="020B0502040204020203" pitchFamily="34" charset="0"/>
              </a:rPr>
              <a:t>This COVID-19 Recovery csv dataset consists of 28 columns and 70,000 rows.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Missing values in vaccination status, comorbidities, symptoms, and treatments.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Logical errors in recovery and death indicators.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Date columns stored in incorrect numeric format.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Unrealistic distribution of recovery vs death rates.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Outcome dates not aligned with status flags.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Inconsistent geographic and categorical data entries.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47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6AD3-8CE4-43A0-9DA1-542AA3B1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u="sng" dirty="0"/>
              <a:t>4. Data Cleaning Steps In Excel using Power Query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4B39D-AB77-42CC-9D67-8A190BEF6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Bahnschrift SemiBold" panose="020B0502040204020203" pitchFamily="34" charset="0"/>
              </a:rPr>
              <a:t>Removed duplicates and handled missing values.</a:t>
            </a:r>
          </a:p>
          <a:p>
            <a:pPr algn="just"/>
            <a:r>
              <a:rPr lang="en-IN" dirty="0">
                <a:latin typeface="Bahnschrift SemiBold" panose="020B0502040204020203" pitchFamily="34" charset="0"/>
              </a:rPr>
              <a:t>Corrected logical inconsistencies in recovery and death data.</a:t>
            </a:r>
          </a:p>
          <a:p>
            <a:pPr algn="just"/>
            <a:r>
              <a:rPr lang="en-IN" dirty="0">
                <a:latin typeface="Bahnschrift SemiBold" panose="020B0502040204020203" pitchFamily="34" charset="0"/>
              </a:rPr>
              <a:t>Converted and Formatted Date fields properly.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Standardized categorical variables (severity, treatment, variant).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Removed non-informative or irrelevant columns.</a:t>
            </a:r>
          </a:p>
          <a:p>
            <a:pPr algn="just"/>
            <a:r>
              <a:rPr lang="en-IN" dirty="0">
                <a:latin typeface="Bahnschrift SemiBold" panose="020B0502040204020203" pitchFamily="34" charset="0"/>
              </a:rPr>
              <a:t>Added new custom column like “Date_Of_Discharge” , ”Patient_Status” and “SL_NO”.</a:t>
            </a:r>
          </a:p>
          <a:p>
            <a:pPr marL="0" indent="0" algn="just">
              <a:buNone/>
            </a:pPr>
            <a:r>
              <a:rPr lang="en-US" b="1" dirty="0">
                <a:latin typeface="Bahnschrift SemiBold" panose="020B0502040204020203" pitchFamily="34" charset="0"/>
              </a:rPr>
              <a:t>Result:</a:t>
            </a:r>
            <a:r>
              <a:rPr lang="en-US" dirty="0">
                <a:latin typeface="Bahnschrift SemiBold" panose="020B0502040204020203" pitchFamily="34" charset="0"/>
              </a:rPr>
              <a:t> Clean and structured dataset ready for accurate analysis.</a:t>
            </a:r>
            <a:endParaRPr lang="en-IN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53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A98F-EA9A-414A-B793-AA83D466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5. Data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11B92-99DA-47A5-977D-BE48F734C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Bahnschrift SemiBold" panose="020B0502040204020203" pitchFamily="34" charset="0"/>
              </a:rPr>
              <a:t>Used a </a:t>
            </a:r>
            <a:r>
              <a:rPr lang="en-US" b="1" dirty="0">
                <a:latin typeface="Bahnschrift SemiBold" panose="020B0502040204020203" pitchFamily="34" charset="0"/>
              </a:rPr>
              <a:t>single-table data model</a:t>
            </a:r>
            <a:r>
              <a:rPr lang="en-US" dirty="0">
                <a:latin typeface="Bahnschrift SemiBold" panose="020B0502040204020203" pitchFamily="34" charset="0"/>
              </a:rPr>
              <a:t> for analysis.</a:t>
            </a:r>
          </a:p>
          <a:p>
            <a:pPr marL="0" indent="0" algn="just">
              <a:buNone/>
            </a:pPr>
            <a:endParaRPr lang="en-US" dirty="0">
              <a:latin typeface="Bahnschrift SemiBold" panose="020B0502040204020203" pitchFamily="34" charset="0"/>
            </a:endParaRP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Performed transformations and calculations within the same table.</a:t>
            </a:r>
          </a:p>
          <a:p>
            <a:pPr marL="0" indent="0" algn="just">
              <a:buNone/>
            </a:pPr>
            <a:endParaRPr lang="en-US" dirty="0">
              <a:latin typeface="Bahnschrift SemiBold" panose="020B0502040204020203" pitchFamily="34" charset="0"/>
            </a:endParaRP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Avoided complex relationships due to structured dataset design.</a:t>
            </a:r>
          </a:p>
          <a:p>
            <a:pPr marL="0" indent="0" algn="just">
              <a:buNone/>
            </a:pPr>
            <a:endParaRPr lang="en-US" dirty="0">
              <a:latin typeface="Bahnschrift SemiBold" panose="020B0502040204020203" pitchFamily="34" charset="0"/>
            </a:endParaRP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Applied measures and calculated columns in Power BI.</a:t>
            </a:r>
          </a:p>
          <a:p>
            <a:pPr marL="0" indent="0" algn="just">
              <a:buNone/>
            </a:pPr>
            <a:endParaRPr lang="en-US" dirty="0">
              <a:latin typeface="Bahnschrift SemiBold" panose="020B0502040204020203" pitchFamily="34" charset="0"/>
            </a:endParaRP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>
                <a:latin typeface="Bahnschrift SemiBold" panose="020B0502040204020203" pitchFamily="34" charset="0"/>
              </a:rPr>
              <a:t>Calculated measures – “Total Patients”, “Total Recovered”, “Total Death”, “Active Cases”, “Recovery Rate %”, “Death Rate %” and “Average Recovery Days”.</a:t>
            </a:r>
          </a:p>
          <a:p>
            <a:pPr marL="914400" lvl="1" indent="-457200" algn="just">
              <a:buFont typeface="+mj-lt"/>
              <a:buAutoNum type="alphaLcParenR"/>
            </a:pPr>
            <a:endParaRPr lang="en-US" dirty="0">
              <a:latin typeface="Bahnschrift SemiBold" panose="020B0502040204020203" pitchFamily="34" charset="0"/>
            </a:endParaRP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>
                <a:latin typeface="Bahnschrift SemiBold" panose="020B0502040204020203" pitchFamily="34" charset="0"/>
              </a:rPr>
              <a:t>Calculated Columns – “Age Group” ,”Age Group Sort”.</a:t>
            </a:r>
          </a:p>
          <a:p>
            <a:pPr marL="457200" lvl="1" indent="0" algn="just">
              <a:buNone/>
            </a:pPr>
            <a:endParaRPr lang="en-US" dirty="0">
              <a:latin typeface="Bahnschrift SemiBold" panose="020B0502040204020203" pitchFamily="34" charset="0"/>
            </a:endParaRP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Ensured clean structure before visualization.</a:t>
            </a:r>
            <a:endParaRPr lang="en-IN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8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865F-AD5A-4D7B-B883-91ED42462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6. DAX MEASURE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24790-D138-4A84-9D4A-5CF294FC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65" y="2057400"/>
            <a:ext cx="11304494" cy="4435475"/>
          </a:xfrm>
        </p:spPr>
        <p:txBody>
          <a:bodyPr>
            <a:normAutofit fontScale="3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4500" b="1" dirty="0">
                <a:latin typeface="Bahnschrift SemiBold" panose="020B0502040204020203" pitchFamily="34" charset="0"/>
              </a:rPr>
              <a:t>Total_Patients </a:t>
            </a:r>
            <a:r>
              <a:rPr lang="en-IN" sz="4500" dirty="0">
                <a:latin typeface="Bahnschrift SemiBold" panose="020B0502040204020203" pitchFamily="34" charset="0"/>
              </a:rPr>
              <a:t>= </a:t>
            </a:r>
            <a:r>
              <a:rPr lang="en-IN" sz="4500" dirty="0">
                <a:solidFill>
                  <a:srgbClr val="7030A0"/>
                </a:solidFill>
                <a:latin typeface="Bahnschrift SemiBold" panose="020B0502040204020203" pitchFamily="34" charset="0"/>
              </a:rPr>
              <a:t>COUNT(‘COVID_19_DATASET’[Patient_ID])</a:t>
            </a:r>
          </a:p>
          <a:p>
            <a:pPr marL="0" indent="0">
              <a:buNone/>
            </a:pPr>
            <a:endParaRPr lang="en-IN" sz="4500" dirty="0">
              <a:solidFill>
                <a:srgbClr val="7030A0"/>
              </a:solidFill>
              <a:latin typeface="Bahnschrift SemiBol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4500" b="1" dirty="0">
                <a:latin typeface="Bahnschrift SemiBold" panose="020B0502040204020203" pitchFamily="34" charset="0"/>
              </a:rPr>
              <a:t>Total_Recovered = </a:t>
            </a:r>
            <a:r>
              <a:rPr lang="en-IN" sz="45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CALCULATE(COUNT(‘COVID_19_DATASET’[Patient_ID]),‘COVID_19_DATASET’[Patient_Status] = “Recovered”)</a:t>
            </a:r>
          </a:p>
          <a:p>
            <a:pPr marL="0" indent="0">
              <a:buNone/>
            </a:pPr>
            <a:endParaRPr lang="en-IN" sz="4500" dirty="0">
              <a:solidFill>
                <a:schemeClr val="accent6">
                  <a:lumMod val="50000"/>
                </a:schemeClr>
              </a:solidFill>
              <a:latin typeface="Bahnschrift SemiBol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4500" b="1" dirty="0">
                <a:latin typeface="Bahnschrift SemiBold" panose="020B0502040204020203" pitchFamily="34" charset="0"/>
              </a:rPr>
              <a:t>Total_Death = </a:t>
            </a:r>
            <a:r>
              <a:rPr lang="en-IN" sz="45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CALCULATE(COUNT(‘COVID_19_DATASET’[Patient_ID]),‘COVID_19_DATASET’[Patient_Status] = “Deceased”)</a:t>
            </a:r>
          </a:p>
          <a:p>
            <a:pPr marL="0" indent="0">
              <a:buNone/>
            </a:pPr>
            <a:endParaRPr lang="en-IN" sz="4500" dirty="0">
              <a:solidFill>
                <a:srgbClr val="FF0000"/>
              </a:solidFill>
              <a:latin typeface="Bahnschrift SemiBol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4500" b="1" dirty="0">
                <a:latin typeface="Bahnschrift SemiBold" panose="020B0502040204020203" pitchFamily="34" charset="0"/>
              </a:rPr>
              <a:t>Active_Cases </a:t>
            </a:r>
            <a:r>
              <a:rPr lang="en-IN" sz="4500" dirty="0">
                <a:latin typeface="Bahnschrift SemiBold" panose="020B0502040204020203" pitchFamily="34" charset="0"/>
              </a:rPr>
              <a:t>= </a:t>
            </a:r>
            <a:r>
              <a:rPr lang="en-IN" sz="4500" dirty="0">
                <a:solidFill>
                  <a:schemeClr val="accent5">
                    <a:lumMod val="75000"/>
                  </a:schemeClr>
                </a:solidFill>
                <a:latin typeface="Bahnschrift SemiBold" panose="020B0502040204020203" pitchFamily="34" charset="0"/>
              </a:rPr>
              <a:t>[Total_Patients] – ([Total_Recovered] + [Total_Death])</a:t>
            </a:r>
          </a:p>
          <a:p>
            <a:pPr marL="0" indent="0">
              <a:buNone/>
            </a:pPr>
            <a:endParaRPr lang="en-IN" sz="4500" dirty="0">
              <a:solidFill>
                <a:schemeClr val="accent5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4500" b="1" dirty="0">
                <a:latin typeface="Bahnschrift SemiBold" panose="020B0502040204020203" pitchFamily="34" charset="0"/>
              </a:rPr>
              <a:t>Recovery Rate % </a:t>
            </a:r>
            <a:r>
              <a:rPr lang="en-IN" sz="4500" dirty="0">
                <a:latin typeface="Bahnschrift SemiBold" panose="020B0502040204020203" pitchFamily="34" charset="0"/>
              </a:rPr>
              <a:t>= </a:t>
            </a:r>
            <a:r>
              <a:rPr lang="en-IN" sz="4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DIVIDE([Total_Recovered], [Total_Patients]) * 100</a:t>
            </a:r>
          </a:p>
          <a:p>
            <a:pPr marL="0" indent="0">
              <a:buNone/>
            </a:pPr>
            <a:endParaRPr lang="en-IN" sz="45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4500" b="1" dirty="0">
                <a:latin typeface="Bahnschrift SemiBold" panose="020B0502040204020203" pitchFamily="34" charset="0"/>
              </a:rPr>
              <a:t>Death Rate % </a:t>
            </a:r>
            <a:r>
              <a:rPr lang="en-IN" sz="4500" dirty="0">
                <a:latin typeface="Bahnschrift SemiBold" panose="020B0502040204020203" pitchFamily="34" charset="0"/>
              </a:rPr>
              <a:t>= </a:t>
            </a:r>
            <a:r>
              <a:rPr lang="en-IN" sz="4500" dirty="0">
                <a:solidFill>
                  <a:srgbClr val="801A48"/>
                </a:solidFill>
                <a:latin typeface="Bahnschrift SemiBold" panose="020B0502040204020203" pitchFamily="34" charset="0"/>
              </a:rPr>
              <a:t>DIVIDE([Total_Death], [Total_Patients]) * 100</a:t>
            </a:r>
          </a:p>
          <a:p>
            <a:pPr marL="0" indent="0">
              <a:buNone/>
            </a:pPr>
            <a:endParaRPr lang="en-IN" sz="4500" dirty="0">
              <a:solidFill>
                <a:srgbClr val="801A48"/>
              </a:solidFill>
              <a:latin typeface="Bahnschrift SemiBol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4500" b="1" dirty="0">
                <a:latin typeface="Bahnschrift SemiBold" panose="020B0502040204020203" pitchFamily="34" charset="0"/>
              </a:rPr>
              <a:t>Average Recovery Days </a:t>
            </a:r>
            <a:r>
              <a:rPr lang="en-IN" sz="4500" dirty="0">
                <a:latin typeface="Bahnschrift SemiBold" panose="020B0502040204020203" pitchFamily="34" charset="0"/>
              </a:rPr>
              <a:t>= </a:t>
            </a:r>
            <a:r>
              <a:rPr lang="en-US" sz="4500" dirty="0">
                <a:solidFill>
                  <a:srgbClr val="3333FF"/>
                </a:solidFill>
                <a:latin typeface="Bahnschrift SemiBold" panose="020B0502040204020203" pitchFamily="34" charset="0"/>
              </a:rPr>
              <a:t>AVERAGE</a:t>
            </a:r>
            <a:r>
              <a:rPr lang="en-US" sz="4500" b="0" dirty="0">
                <a:solidFill>
                  <a:srgbClr val="3333FF"/>
                </a:solidFill>
                <a:effectLst/>
                <a:latin typeface="Bahnschrift SemiBold" panose="020B0502040204020203" pitchFamily="34" charset="0"/>
              </a:rPr>
              <a:t>(COVID_19_DATASET[Days_To_Recovery])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400" dirty="0"/>
          </a:p>
          <a:p>
            <a:pPr>
              <a:buFont typeface="Wingdings" panose="05000000000000000000" pitchFamily="2" charset="2"/>
              <a:buChar char="q"/>
            </a:pPr>
            <a:endParaRPr lang="en-IN" sz="2400" dirty="0"/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478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1DE0-3095-4212-A39F-DFA83290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u="sng" dirty="0"/>
              <a:t>7. CALCULATED COLUMN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956D5-9726-418A-8926-3B5B0155D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5950"/>
            <a:ext cx="11029615" cy="470535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b="1" dirty="0"/>
              <a:t>Age Group =  </a:t>
            </a:r>
            <a:r>
              <a:rPr lang="en-US" sz="20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2743200" lvl="6" indent="0" algn="just">
              <a:buNone/>
            </a:pPr>
            <a:r>
              <a:rPr lang="en-US" sz="15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2743200" lvl="6" indent="0" algn="just">
              <a:buNone/>
            </a:pP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COVID_19_RECOVERY_DATASET[Age]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"0-18"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2743200" lvl="6" indent="0" algn="just">
              <a:buNone/>
            </a:pP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COVID_19_RECOVERY_DATASET[Age]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"19-35"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2743200" lvl="6" indent="0" algn="just">
              <a:buNone/>
            </a:pP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COVID_19_RECOVERY_DATASET[Age]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"36-60"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2743200" lvl="6" indent="0" algn="just">
              <a:buNone/>
            </a:pP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"60+"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1" dirty="0"/>
              <a:t>Age Group Sort = </a:t>
            </a:r>
            <a:r>
              <a:rPr lang="en-US" sz="20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2743200" lvl="6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2743200" lvl="6" indent="0"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COVID_19_RECOVERY_DATASET[Age]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2743200" lvl="6" indent="0"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COVID_19_RECOVERY_DATASET[Age]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2743200" lvl="6" indent="0"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COVID_19_RECOVERY_DATASET[Age]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2743200" lvl="6" indent="0"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743200" lvl="6" indent="0"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058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EB67-2430-46BF-9C66-7C6B399D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u="sng" dirty="0"/>
              <a:t>8. POWER BI REPORT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8593-5E5B-4803-9AA2-54ED2A5A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IN" sz="2400" dirty="0">
                <a:latin typeface="Bahnschrift SemiBold" panose="020B0502040204020203" pitchFamily="34" charset="0"/>
              </a:rPr>
              <a:t>Cards Visuals –&gt;</a:t>
            </a:r>
          </a:p>
          <a:p>
            <a:pPr marL="0" indent="0">
              <a:buNone/>
            </a:pPr>
            <a:endParaRPr lang="en-IN" sz="2400" dirty="0">
              <a:latin typeface="Bahnschrift SemiBold" panose="020B0502040204020203" pitchFamily="34" charset="0"/>
            </a:endParaRPr>
          </a:p>
          <a:p>
            <a:pPr marL="2743200" lvl="5" indent="-457200">
              <a:buFont typeface="+mj-lt"/>
              <a:buAutoNum type="alphaUcPeriod"/>
            </a:pPr>
            <a:r>
              <a:rPr lang="en-US" sz="2400" dirty="0">
                <a:latin typeface="Bahnschrift SemiBold" panose="020B0502040204020203" pitchFamily="34" charset="0"/>
              </a:rPr>
              <a:t>Total Patients </a:t>
            </a:r>
          </a:p>
          <a:p>
            <a:pPr marL="2743200" lvl="5" indent="-457200">
              <a:buFont typeface="+mj-lt"/>
              <a:buAutoNum type="alphaUcPeriod"/>
            </a:pPr>
            <a:r>
              <a:rPr lang="en-US" sz="2400" dirty="0">
                <a:latin typeface="Bahnschrift SemiBold" panose="020B0502040204020203" pitchFamily="34" charset="0"/>
              </a:rPr>
              <a:t>Total Recovered</a:t>
            </a:r>
          </a:p>
          <a:p>
            <a:pPr marL="2743200" lvl="5" indent="-457200">
              <a:buFont typeface="+mj-lt"/>
              <a:buAutoNum type="alphaUcPeriod"/>
            </a:pPr>
            <a:r>
              <a:rPr lang="en-US" sz="2400" dirty="0">
                <a:latin typeface="Bahnschrift SemiBold" panose="020B0502040204020203" pitchFamily="34" charset="0"/>
              </a:rPr>
              <a:t>Total Death</a:t>
            </a:r>
          </a:p>
          <a:p>
            <a:pPr marL="2743200" lvl="5" indent="-457200">
              <a:buFont typeface="+mj-lt"/>
              <a:buAutoNum type="alphaUcPeriod"/>
            </a:pPr>
            <a:r>
              <a:rPr lang="en-US" sz="2400" dirty="0">
                <a:latin typeface="Bahnschrift SemiBold" panose="020B0502040204020203" pitchFamily="34" charset="0"/>
              </a:rPr>
              <a:t>Active Cases</a:t>
            </a:r>
          </a:p>
          <a:p>
            <a:pPr marL="2743200" lvl="5" indent="-457200">
              <a:buFont typeface="+mj-lt"/>
              <a:buAutoNum type="alphaUcPeriod"/>
            </a:pPr>
            <a:r>
              <a:rPr lang="en-US" sz="2400" dirty="0">
                <a:latin typeface="Bahnschrift SemiBold" panose="020B0502040204020203" pitchFamily="34" charset="0"/>
              </a:rPr>
              <a:t>Recovery Rate %</a:t>
            </a:r>
          </a:p>
          <a:p>
            <a:pPr marL="2743200" lvl="5" indent="-457200">
              <a:buFont typeface="+mj-lt"/>
              <a:buAutoNum type="alphaUcPeriod"/>
            </a:pPr>
            <a:r>
              <a:rPr lang="en-US" sz="2400" dirty="0">
                <a:latin typeface="Bahnschrift SemiBold" panose="020B0502040204020203" pitchFamily="34" charset="0"/>
              </a:rPr>
              <a:t>Death Rate % </a:t>
            </a:r>
          </a:p>
          <a:p>
            <a:pPr marL="2743200" lvl="5" indent="-457200">
              <a:buFont typeface="+mj-lt"/>
              <a:buAutoNum type="alphaUcPeriod"/>
            </a:pPr>
            <a:r>
              <a:rPr lang="en-US" sz="2400" dirty="0">
                <a:latin typeface="Bahnschrift SemiBold" panose="020B0502040204020203" pitchFamily="34" charset="0"/>
              </a:rPr>
              <a:t>Average Recovery Days</a:t>
            </a:r>
          </a:p>
        </p:txBody>
      </p:sp>
    </p:spTree>
    <p:extLst>
      <p:ext uri="{BB962C8B-B14F-4D97-AF65-F5344CB8AC3E}">
        <p14:creationId xmlns:p14="http://schemas.microsoft.com/office/powerpoint/2010/main" val="618351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D248-F690-4B02-B60C-46C39E335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3059"/>
            <a:ext cx="10515600" cy="5683904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AutoNum type="arabicParenR" startAt="2"/>
            </a:pPr>
            <a:r>
              <a:rPr lang="en-IN" sz="2000" dirty="0">
                <a:latin typeface="Bahnschrift SemiBold" panose="020B0502040204020203" pitchFamily="34" charset="0"/>
              </a:rPr>
              <a:t>Recovery v/s Death Analysis using </a:t>
            </a:r>
            <a:r>
              <a:rPr lang="en-IN" sz="2000" u="sng" dirty="0">
                <a:solidFill>
                  <a:srgbClr val="C00000"/>
                </a:solidFill>
                <a:latin typeface="Bahnschrift SemiBold" panose="020B0502040204020203" pitchFamily="34" charset="0"/>
              </a:rPr>
              <a:t>Clustered Column Chart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dirty="0">
                <a:latin typeface="Bahnschrift SemiBold" panose="020B0502040204020203" pitchFamily="34" charset="0"/>
              </a:rPr>
              <a:t>Total Patients v/s Severity Analysis using </a:t>
            </a:r>
            <a:r>
              <a:rPr lang="en-IN" sz="2000" u="sng" dirty="0">
                <a:solidFill>
                  <a:srgbClr val="9F259F"/>
                </a:solidFill>
                <a:latin typeface="Bahnschrift SemiBold" panose="020B0502040204020203" pitchFamily="34" charset="0"/>
              </a:rPr>
              <a:t>Pie Chart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dirty="0">
                <a:latin typeface="Bahnschrift SemiBold" panose="020B0502040204020203" pitchFamily="34" charset="0"/>
              </a:rPr>
              <a:t>Total Cases v/s Vaccination Status Analysis using </a:t>
            </a:r>
            <a:r>
              <a:rPr lang="en-IN" sz="2000" u="sng" dirty="0">
                <a:solidFill>
                  <a:schemeClr val="accent5">
                    <a:lumMod val="75000"/>
                  </a:schemeClr>
                </a:solidFill>
                <a:latin typeface="Bahnschrift SemiBold" panose="020B0502040204020203" pitchFamily="34" charset="0"/>
              </a:rPr>
              <a:t>Donut Chart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dirty="0">
                <a:latin typeface="Bahnschrift SemiBold" panose="020B0502040204020203" pitchFamily="34" charset="0"/>
              </a:rPr>
              <a:t>Severity v/s ICU Admission Analysis using </a:t>
            </a:r>
            <a:r>
              <a:rPr lang="en-IN" sz="2000" u="sng" dirty="0">
                <a:solidFill>
                  <a:srgbClr val="00B050"/>
                </a:solidFill>
                <a:latin typeface="Bahnschrift SemiBold" panose="020B0502040204020203" pitchFamily="34" charset="0"/>
              </a:rPr>
              <a:t>Stacked Column Chart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dirty="0">
                <a:latin typeface="Bahnschrift SemiBold" panose="020B0502040204020203" pitchFamily="34" charset="0"/>
              </a:rPr>
              <a:t>Total Cases By Year and Month Analysis using </a:t>
            </a:r>
            <a:r>
              <a:rPr lang="en-IN" sz="2000" u="sng" dirty="0">
                <a:solidFill>
                  <a:srgbClr val="4B3415"/>
                </a:solidFill>
                <a:latin typeface="Bahnschrift SemiBold" panose="020B0502040204020203" pitchFamily="34" charset="0"/>
              </a:rPr>
              <a:t>Line Chart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dirty="0">
                <a:latin typeface="Bahnschrift SemiBold" panose="020B0502040204020203" pitchFamily="34" charset="0"/>
              </a:rPr>
              <a:t>Total Cases By Symptoms using </a:t>
            </a:r>
            <a:r>
              <a:rPr lang="en-IN" sz="2000" u="sng" dirty="0">
                <a:solidFill>
                  <a:srgbClr val="3D6F63"/>
                </a:solidFill>
                <a:latin typeface="Bahnschrift SemiBold" panose="020B0502040204020203" pitchFamily="34" charset="0"/>
              </a:rPr>
              <a:t>Pie Chart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u="sng" dirty="0">
                <a:solidFill>
                  <a:srgbClr val="D64536"/>
                </a:solidFill>
                <a:latin typeface="Bahnschrift SemiBold" panose="020B0502040204020203" pitchFamily="34" charset="0"/>
              </a:rPr>
              <a:t>Funnel Chart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dirty="0">
                <a:latin typeface="Bahnschrift SemiBold" panose="020B0502040204020203" pitchFamily="34" charset="0"/>
              </a:rPr>
              <a:t>Age Group v/s Average Recovery Days Analysis using </a:t>
            </a:r>
            <a:r>
              <a:rPr lang="en-IN" sz="2000" u="sng" dirty="0">
                <a:solidFill>
                  <a:srgbClr val="22D0D4"/>
                </a:solidFill>
                <a:latin typeface="Bahnschrift SemiBold" panose="020B0502040204020203" pitchFamily="34" charset="0"/>
              </a:rPr>
              <a:t>Scatter Chart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u="sng" dirty="0">
                <a:solidFill>
                  <a:srgbClr val="B5A425"/>
                </a:solidFill>
                <a:latin typeface="Bahnschrift SemiBold" panose="020B0502040204020203" pitchFamily="34" charset="0"/>
              </a:rPr>
              <a:t>Filled Map </a:t>
            </a:r>
            <a:r>
              <a:rPr lang="en-IN" sz="2000" dirty="0">
                <a:latin typeface="Bahnschrift SemiBold" panose="020B0502040204020203" pitchFamily="34" charset="0"/>
              </a:rPr>
              <a:t>showing Death Rate % based on Region.</a:t>
            </a:r>
          </a:p>
          <a:p>
            <a:pPr marL="457200" indent="-457200" algn="just">
              <a:buAutoNum type="arabicParenR" startAt="2"/>
            </a:pPr>
            <a:r>
              <a:rPr lang="en-IN" sz="2000" u="sng" dirty="0">
                <a:solidFill>
                  <a:srgbClr val="3667F2"/>
                </a:solidFill>
                <a:latin typeface="Bahnschrift SemiBold" panose="020B0502040204020203" pitchFamily="34" charset="0"/>
              </a:rPr>
              <a:t>KPI Visual </a:t>
            </a:r>
            <a:r>
              <a:rPr lang="en-IN" sz="2000" dirty="0">
                <a:latin typeface="Bahnschrift SemiBold" panose="020B0502040204020203" pitchFamily="34" charset="0"/>
              </a:rPr>
              <a:t>showing Total Cases By Total Recovered.</a:t>
            </a:r>
          </a:p>
          <a:p>
            <a:pPr marL="457200" indent="-457200" algn="just">
              <a:buAutoNum type="arabicParenR" startAt="2"/>
            </a:pPr>
            <a:r>
              <a:rPr lang="en-IN" sz="2000" u="sng" dirty="0">
                <a:solidFill>
                  <a:srgbClr val="C32BA6"/>
                </a:solidFill>
                <a:latin typeface="Bahnschrift SemiBold" panose="020B0502040204020203" pitchFamily="34" charset="0"/>
              </a:rPr>
              <a:t>Gauge Visual </a:t>
            </a:r>
            <a:r>
              <a:rPr lang="en-IN" sz="2000" dirty="0">
                <a:latin typeface="Bahnschrift SemiBold" panose="020B0502040204020203" pitchFamily="34" charset="0"/>
              </a:rPr>
              <a:t>showing Recovery %.</a:t>
            </a:r>
          </a:p>
          <a:p>
            <a:pPr marL="457200" indent="-457200" algn="just">
              <a:buAutoNum type="arabicParenR" startAt="2"/>
            </a:pPr>
            <a:r>
              <a:rPr lang="en-IN" sz="2000" dirty="0">
                <a:latin typeface="Bahnschrift SemiBold" panose="020B0502040204020203" pitchFamily="34" charset="0"/>
              </a:rPr>
              <a:t>Total Cases v/s Symptoms, Comorbidities and Treatment using </a:t>
            </a:r>
            <a:r>
              <a:rPr lang="en-IN" sz="2000" u="sng" dirty="0">
                <a:solidFill>
                  <a:srgbClr val="E9114F"/>
                </a:solidFill>
                <a:latin typeface="Bahnschrift SemiBold" panose="020B0502040204020203" pitchFamily="34" charset="0"/>
              </a:rPr>
              <a:t>Tree Map</a:t>
            </a:r>
            <a:r>
              <a:rPr lang="en-IN" sz="2000" dirty="0">
                <a:latin typeface="Bahnschrift SemiBold" panose="020B0502040204020203" pitchFamily="34" charset="0"/>
              </a:rPr>
              <a:t>.</a:t>
            </a:r>
          </a:p>
          <a:p>
            <a:pPr marL="457200" indent="-457200" algn="just">
              <a:buAutoNum type="arabicParenR" startAt="2"/>
            </a:pPr>
            <a:r>
              <a:rPr lang="en-IN" sz="2000" u="sng" dirty="0">
                <a:solidFill>
                  <a:srgbClr val="3A8EEA"/>
                </a:solidFill>
                <a:latin typeface="Bahnschrift SemiBold" panose="020B0502040204020203" pitchFamily="34" charset="0"/>
              </a:rPr>
              <a:t>Waterfall Chart</a:t>
            </a:r>
          </a:p>
          <a:p>
            <a:pPr marL="457200" indent="-457200" algn="just">
              <a:buAutoNum type="arabicParenR" startAt="2"/>
            </a:pPr>
            <a:r>
              <a:rPr lang="en-IN" sz="2000" u="sng" dirty="0">
                <a:solidFill>
                  <a:srgbClr val="532A23"/>
                </a:solidFill>
                <a:latin typeface="Bahnschrift SemiBold" panose="020B0502040204020203" pitchFamily="34" charset="0"/>
              </a:rPr>
              <a:t>Decomposition Tree</a:t>
            </a:r>
          </a:p>
          <a:p>
            <a:pPr marL="457200" indent="-457200">
              <a:buAutoNum type="arabicParenR" startAt="2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81753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EFE9-D6B4-49AB-AFC6-AC3048AE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9.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3E952-F1AF-46A0-A409-8878B65BC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KPI Cards </a:t>
            </a:r>
            <a:r>
              <a:rPr lang="en-IN" dirty="0">
                <a:latin typeface="Bahnschrift SemiBold" panose="020B0502040204020203" pitchFamily="34" charset="0"/>
              </a:rPr>
              <a:t>( Total Cases, Recovery Rate %, Death Rate %, Active Cases, Average Recovery Days).</a:t>
            </a:r>
          </a:p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Line Chart </a:t>
            </a:r>
            <a:r>
              <a:rPr lang="en-IN" dirty="0">
                <a:latin typeface="Bahnschrift SemiBold" panose="020B0502040204020203" pitchFamily="34" charset="0"/>
              </a:rPr>
              <a:t>– Cases Over Time (Alpha, Delta, Omicron).</a:t>
            </a:r>
          </a:p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Filled Map Visualization </a:t>
            </a:r>
            <a:r>
              <a:rPr lang="en-IN" dirty="0">
                <a:latin typeface="Bahnschrift SemiBold" panose="020B0502040204020203" pitchFamily="34" charset="0"/>
              </a:rPr>
              <a:t>– Cases By Region.</a:t>
            </a:r>
          </a:p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Stacked Column Chart </a:t>
            </a:r>
            <a:r>
              <a:rPr lang="en-IN" dirty="0">
                <a:latin typeface="Bahnschrift SemiBold" panose="020B0502040204020203" pitchFamily="34" charset="0"/>
              </a:rPr>
              <a:t>– Cases By Severity and Age Group.</a:t>
            </a:r>
          </a:p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Donut Chart </a:t>
            </a:r>
            <a:r>
              <a:rPr lang="en-IN" dirty="0">
                <a:latin typeface="Bahnschrift SemiBold" panose="020B0502040204020203" pitchFamily="34" charset="0"/>
              </a:rPr>
              <a:t>– Cases By Vaccination Details.</a:t>
            </a:r>
          </a:p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Clustered Bar Chart </a:t>
            </a:r>
            <a:r>
              <a:rPr lang="en-IN" dirty="0">
                <a:latin typeface="Bahnschrift SemiBold" panose="020B0502040204020203" pitchFamily="34" charset="0"/>
              </a:rPr>
              <a:t>–Country wise Recovery, Death Rate.</a:t>
            </a:r>
          </a:p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Scatter Chart </a:t>
            </a:r>
            <a:r>
              <a:rPr lang="en-IN" dirty="0">
                <a:latin typeface="Bahnschrift SemiBold" panose="020B0502040204020203" pitchFamily="34" charset="0"/>
              </a:rPr>
              <a:t>– Age wise Vaccination and Days To Recovery.</a:t>
            </a:r>
          </a:p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Slicers </a:t>
            </a:r>
            <a:r>
              <a:rPr lang="en-IN" dirty="0">
                <a:latin typeface="Bahnschrift SemiBold" panose="020B0502040204020203" pitchFamily="34" charset="0"/>
              </a:rPr>
              <a:t>– Date, Region/State, Variant, Severity.</a:t>
            </a:r>
          </a:p>
          <a:p>
            <a:pPr algn="just"/>
            <a:r>
              <a:rPr lang="en-IN" dirty="0">
                <a:solidFill>
                  <a:srgbClr val="C32BA6"/>
                </a:solidFill>
                <a:latin typeface="Bahnschrift SemiBold" panose="020B0502040204020203" pitchFamily="34" charset="0"/>
              </a:rPr>
              <a:t>Filter </a:t>
            </a:r>
            <a:r>
              <a:rPr lang="en-IN" dirty="0">
                <a:latin typeface="Bahnschrift SemiBold" panose="020B0502040204020203" pitchFamily="34" charset="0"/>
              </a:rPr>
              <a:t>–Based on Year and Month - Applied on all pages.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1196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B1B0-6A28-462F-ABE5-F20D9613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0616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10.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FCFC3-95D1-4C5D-ABD3-088BFA6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1675"/>
            <a:ext cx="10515600" cy="4521200"/>
          </a:xfrm>
        </p:spPr>
        <p:txBody>
          <a:bodyPr/>
          <a:lstStyle/>
          <a:p>
            <a:pPr algn="just"/>
            <a:r>
              <a:rPr lang="en-US" dirty="0">
                <a:latin typeface="Bahnschrift SemiBold" panose="020B0502040204020203" pitchFamily="34" charset="0"/>
              </a:rPr>
              <a:t>Majority of cases fall under </a:t>
            </a:r>
            <a:r>
              <a:rPr lang="en-US" b="1" dirty="0">
                <a:latin typeface="Bahnschrift SemiBold" panose="020B0502040204020203" pitchFamily="34" charset="0"/>
              </a:rPr>
              <a:t>mild severity</a:t>
            </a:r>
            <a:r>
              <a:rPr lang="en-US" dirty="0">
                <a:latin typeface="Bahnschrift SemiBold" panose="020B0502040204020203" pitchFamily="34" charset="0"/>
              </a:rPr>
              <a:t>, but critical cases show higher mortality risk.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Older age groups demonstrate increased ICU admissions and death rates.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Certain variants show higher severity and mortality impact compared to others.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Vaccinated individuals display relatively better recovery trends.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Severe cases significantly contribute to active case burden and healthcare load.</a:t>
            </a:r>
          </a:p>
          <a:p>
            <a:pPr marL="0" indent="0" algn="just">
              <a:buNone/>
            </a:pPr>
            <a:endParaRPr lang="en-US" sz="2000" u="sng" dirty="0">
              <a:latin typeface="Bahnschrift SemiBold" panose="020B0502040204020203" pitchFamily="34" charset="0"/>
            </a:endParaRPr>
          </a:p>
          <a:p>
            <a:pPr marL="0" indent="0" algn="just">
              <a:buNone/>
            </a:pPr>
            <a:endParaRPr lang="en-US" sz="2000" u="sng" dirty="0">
              <a:latin typeface="Bahnschrift SemiBold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u="sng" dirty="0">
                <a:latin typeface="Bahnschrift SemiBold" panose="020B0502040204020203" pitchFamily="34" charset="0"/>
              </a:rPr>
              <a:t>Demographics, severity level, variant type, and vaccination status are major factors influencing recovery and mortality outcomes.</a:t>
            </a:r>
          </a:p>
          <a:p>
            <a:pPr algn="just"/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74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DF85-C25F-4869-A989-40A369A8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11.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2E1BE-77DD-47C1-BF16-9F0229905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Bahnschrift SemiBold" panose="020B0502040204020203" pitchFamily="34" charset="0"/>
              </a:rPr>
              <a:t>Prioritize care for high-risk age groups.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Strengthen monitoring and early treatment for severe and critical and Omicron cases.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Encourage vaccination campaigns to improve recovery outcomes.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Improve data accuracy and consistency.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Standardize data collection formats to avoid missing values and logical errors.</a:t>
            </a:r>
          </a:p>
          <a:p>
            <a:pPr algn="just"/>
            <a:r>
              <a:rPr lang="en-US" dirty="0">
                <a:latin typeface="Bahnschrift SemiBold" panose="020B0502040204020203" pitchFamily="34" charset="0"/>
              </a:rPr>
              <a:t>Use dashboards for real-time monitoring and planning</a:t>
            </a:r>
            <a:r>
              <a:rPr lang="en-US" dirty="0">
                <a:latin typeface="Bahnschrift SemiCondensed" panose="020B0502040204020203" pitchFamily="34" charset="0"/>
              </a:rPr>
              <a:t>.</a:t>
            </a:r>
            <a:endParaRPr lang="en-IN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197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5187-049B-4C9B-9BC7-DF6EBBC9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12.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0C31D-29C7-4B03-8551-B80572157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92" y="1552113"/>
            <a:ext cx="11315533" cy="411526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algn="just"/>
            <a:r>
              <a:rPr lang="en-US" sz="2000" dirty="0">
                <a:latin typeface="Arial Black" panose="020B0A04020102020204" pitchFamily="34" charset="0"/>
              </a:rPr>
              <a:t>This analysis demonstrates how data-driven insights can help understand critical factors affecting COVID-19 recovery and mortality.</a:t>
            </a:r>
          </a:p>
          <a:p>
            <a:pPr marL="0" indent="0" algn="just">
              <a:buNone/>
            </a:pPr>
            <a:endParaRPr lang="en-US" sz="2000" dirty="0">
              <a:latin typeface="Arial Black" panose="020B0A04020102020204" pitchFamily="34" charset="0"/>
            </a:endParaRPr>
          </a:p>
          <a:p>
            <a:pPr algn="just"/>
            <a:r>
              <a:rPr lang="en-US" sz="2000" dirty="0">
                <a:latin typeface="Arial Black" panose="020B0A04020102020204" pitchFamily="34" charset="0"/>
              </a:rPr>
              <a:t>By applying proper data cleaning, modeling, and visualization techniques, we transformed raw data into meaningful insights that support informed healthcare decisions.</a:t>
            </a:r>
            <a:endParaRPr lang="en-IN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906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A7070-0011-409F-BCE7-7CA5FF8F2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0988"/>
            <a:ext cx="10515600" cy="5665975"/>
          </a:xfrm>
        </p:spPr>
        <p:txBody>
          <a:bodyPr/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 algn="ctr">
              <a:buNone/>
            </a:pPr>
            <a:r>
              <a:rPr lang="en-IN" sz="6600" b="1" dirty="0">
                <a:latin typeface="Garamond" panose="02020404030301010803" pitchFamily="18" charset="0"/>
              </a:rPr>
              <a:t>Thankyou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6E61F7-7FB0-4752-BD99-A98EB9C3C4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4" y="4689987"/>
            <a:ext cx="11248103" cy="2168013"/>
          </a:xfrm>
          <a:prstGeom prst="rect">
            <a:avLst/>
          </a:prstGeom>
          <a:gradFill flip="none" rotWithShape="1">
            <a:gsLst>
              <a:gs pos="89109">
                <a:srgbClr val="3667F2">
                  <a:lumMod val="98000"/>
                </a:srgbClr>
              </a:gs>
              <a:gs pos="79604">
                <a:srgbClr val="9D87E3"/>
              </a:gs>
              <a:gs pos="60550">
                <a:srgbClr val="DCD4F5"/>
              </a:gs>
              <a:gs pos="0">
                <a:schemeClr val="bg2">
                  <a:tint val="96000"/>
                  <a:shade val="100000"/>
                  <a:hueMod val="92000"/>
                  <a:satMod val="200000"/>
                  <a:lumMod val="128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100000">
                <a:schemeClr val="bg2">
                  <a:shade val="78000"/>
                  <a:hueMod val="118000"/>
                  <a:satMod val="120000"/>
                  <a:lumMod val="6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</p:pic>
    </p:spTree>
    <p:extLst>
      <p:ext uri="{BB962C8B-B14F-4D97-AF65-F5344CB8AC3E}">
        <p14:creationId xmlns:p14="http://schemas.microsoft.com/office/powerpoint/2010/main" val="125424033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483</TotalTime>
  <Words>1204</Words>
  <Application>Microsoft Office PowerPoint</Application>
  <PresentationFormat>Widescreen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 Black</vt:lpstr>
      <vt:lpstr>Bahnschrift SemiBold</vt:lpstr>
      <vt:lpstr>Bahnschrift SemiCondensed</vt:lpstr>
      <vt:lpstr>Consolas</vt:lpstr>
      <vt:lpstr>Garamond</vt:lpstr>
      <vt:lpstr>Gill Sans MT</vt:lpstr>
      <vt:lpstr>Wingdings</vt:lpstr>
      <vt:lpstr>Wingdings 2</vt:lpstr>
      <vt:lpstr>Dividend</vt:lpstr>
      <vt:lpstr>COVID-19 RECOVERY ANALYSIS</vt:lpstr>
      <vt:lpstr>CONTENTS</vt:lpstr>
      <vt:lpstr>1. INTRODUCTION</vt:lpstr>
      <vt:lpstr>2. PROJECT OBJECTIVE</vt:lpstr>
      <vt:lpstr>3. PROBLEM STATEMENT</vt:lpstr>
      <vt:lpstr>4. Data Cleaning Steps In Excel using Power Query Editor</vt:lpstr>
      <vt:lpstr>5. Data Modelling</vt:lpstr>
      <vt:lpstr>6. DAX MEASURE EXPRESSION</vt:lpstr>
      <vt:lpstr>7. CALCULATED COLUMN FORMULA</vt:lpstr>
      <vt:lpstr>8. POWER BI REPORT VISUALIZATIONS</vt:lpstr>
      <vt:lpstr>PowerPoint Presentation</vt:lpstr>
      <vt:lpstr>9. Dashboard Overview</vt:lpstr>
      <vt:lpstr>10. Insights</vt:lpstr>
      <vt:lpstr>11. Suggestions</vt:lpstr>
      <vt:lpstr>12.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RECOVERY ANALYSIS</dc:title>
  <dc:creator>saranya chandran s</dc:creator>
  <cp:lastModifiedBy>saranya chandran s</cp:lastModifiedBy>
  <cp:revision>42</cp:revision>
  <dcterms:created xsi:type="dcterms:W3CDTF">2026-03-03T00:21:38Z</dcterms:created>
  <dcterms:modified xsi:type="dcterms:W3CDTF">2026-03-03T08:24:50Z</dcterms:modified>
</cp:coreProperties>
</file>